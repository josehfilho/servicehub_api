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f7e1c0f3bc4a0f" /><Relationship Type="http://schemas.openxmlformats.org/officeDocument/2006/relationships/extended-properties" Target="/docProps/app.xml" Id="Rf4069c8be67e4911" /><Relationship Type="http://schemas.openxmlformats.org/officeDocument/2006/relationships/officeDocument" Target="/ppt/presentation.xml" Id="R320fd1c168ea44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0c0879c6ad41e3"/>
  </p:sldMasterIdLst>
  <p:notesMasterIdLst>
    <p:notesMasterId xmlns:r="http://schemas.openxmlformats.org/officeDocument/2006/relationships" r:id="R55d4391622dd4d68"/>
  </p:notesMasterIdLst>
  <p:sldIdLst>
    <p:sldId xmlns:r="http://schemas.openxmlformats.org/officeDocument/2006/relationships" id="256" r:id="R4432aba0bcc44bcd"/>
    <p:sldId xmlns:r="http://schemas.openxmlformats.org/officeDocument/2006/relationships" id="257" r:id="Re924b58e5fe74587"/>
    <p:sldId xmlns:r="http://schemas.openxmlformats.org/officeDocument/2006/relationships" id="258" r:id="R6f1237db9254420e"/>
    <p:sldId xmlns:r="http://schemas.openxmlformats.org/officeDocument/2006/relationships" id="259" r:id="R859df51eedd74a91"/>
    <p:sldId xmlns:r="http://schemas.openxmlformats.org/officeDocument/2006/relationships" id="260" r:id="R77414077c4c24058"/>
    <p:sldId xmlns:r="http://schemas.openxmlformats.org/officeDocument/2006/relationships" id="261" r:id="Rcd3f5a917e70448f"/>
    <p:sldId xmlns:r="http://schemas.openxmlformats.org/officeDocument/2006/relationships" id="262" r:id="R204a807e1b99438f"/>
    <p:sldId xmlns:r="http://schemas.openxmlformats.org/officeDocument/2006/relationships" id="263" r:id="R0fc9f22a0aa342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185791650645eb" /><Relationship Type="http://schemas.openxmlformats.org/officeDocument/2006/relationships/slideMaster" Target="/ppt/slideMasters/slideMaster1.xml" Id="Raf0c0879c6ad41e3" /><Relationship Type="http://schemas.openxmlformats.org/officeDocument/2006/relationships/notesMaster" Target="/ppt/notesMasters/notesMaster1.xml" Id="R55d4391622dd4d68" /><Relationship Type="http://schemas.openxmlformats.org/officeDocument/2006/relationships/presProps" Target="/ppt/presProps.xml" Id="Re841333678dd4ea8" /><Relationship Type="http://schemas.openxmlformats.org/officeDocument/2006/relationships/tableStyles" Target="/ppt/tableStyles.xml" Id="R07702d09ec4b4edb" /><Relationship Type="http://schemas.openxmlformats.org/officeDocument/2006/relationships/slide" Target="/ppt/slides/slide1.xml" Id="R4432aba0bcc44bcd" /><Relationship Type="http://schemas.openxmlformats.org/officeDocument/2006/relationships/slide" Target="/ppt/slides/slide2.xml" Id="Re924b58e5fe74587" /><Relationship Type="http://schemas.openxmlformats.org/officeDocument/2006/relationships/slide" Target="/ppt/slides/slide3.xml" Id="R6f1237db9254420e" /><Relationship Type="http://schemas.openxmlformats.org/officeDocument/2006/relationships/slide" Target="/ppt/slides/slide4.xml" Id="R859df51eedd74a91" /><Relationship Type="http://schemas.openxmlformats.org/officeDocument/2006/relationships/slide" Target="/ppt/slides/slide5.xml" Id="R77414077c4c24058" /><Relationship Type="http://schemas.openxmlformats.org/officeDocument/2006/relationships/slide" Target="/ppt/slides/slide6.xml" Id="Rcd3f5a917e70448f" /><Relationship Type="http://schemas.openxmlformats.org/officeDocument/2006/relationships/slide" Target="/ppt/slides/slide7.xml" Id="R204a807e1b99438f" /><Relationship Type="http://schemas.openxmlformats.org/officeDocument/2006/relationships/slide" Target="/ppt/slides/slide8.xml" Id="R0fc9f22a0aa342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6965c55bfd44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92f0c99aa14f60" /><Relationship Type="http://schemas.openxmlformats.org/officeDocument/2006/relationships/notesMaster" Target="/ppt/notesMasters/notesMaster1.xml" Id="Rc6c287330aec4b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5228fc284f4be0" /><Relationship Type="http://schemas.openxmlformats.org/officeDocument/2006/relationships/notesMaster" Target="/ppt/notesMasters/notesMaster1.xml" Id="Rc06f6ae50d4b43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c740a332444e9d" /><Relationship Type="http://schemas.openxmlformats.org/officeDocument/2006/relationships/notesMaster" Target="/ppt/notesMasters/notesMaster1.xml" Id="R539b49f681a840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1725fd4d014d3e" /><Relationship Type="http://schemas.openxmlformats.org/officeDocument/2006/relationships/notesMaster" Target="/ppt/notesMasters/notesMaster1.xml" Id="R2807981d91f34c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6938cda4ef499d" /><Relationship Type="http://schemas.openxmlformats.org/officeDocument/2006/relationships/notesMaster" Target="/ppt/notesMasters/notesMaster1.xml" Id="Rffd8525aedd64c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6c689c460a4cce" /><Relationship Type="http://schemas.openxmlformats.org/officeDocument/2006/relationships/notesMaster" Target="/ppt/notesMasters/notesMaster1.xml" Id="R44ce69dc0bfc4c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bb15fbfc594efd" /><Relationship Type="http://schemas.openxmlformats.org/officeDocument/2006/relationships/notesMaster" Target="/ppt/notesMasters/notesMaster1.xml" Id="Rfd93cc49d37f45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44e63800da4c3b" /><Relationship Type="http://schemas.openxmlformats.org/officeDocument/2006/relationships/notesMaster" Target="/ppt/notesMasters/notesMaster1.xml" Id="R604228f54d7d42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Apresentação de 8 a 10 minutos. Introduzir o projeto da disciplina de Desenvolvimento Backend com Java. A entrega usa Java 25, Spring Boot 4.1.1, PostgreSQL 15 e SpringDoc 3.1.1. Fonte: pom.xml, compose.yaml e Aula 06, slides 4–7.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a plataforma de serviços e o papel dos usuários como participantes. O recurso HTTP completo deste checkpoint é Usuário. ServiceOffering, ServiceRequest e Review têm entidades e persistência preparadas, mas ainda não têm controllers. JWT e papéis de acesso pertencem a etapas futuras. Fonte: README.md e Aula 1, slide 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no código a delegação de UserController para UserService. As validações e o hash ficam no serviço. JpaRepository acessa PostgreSQL. Flyway executa V1–V4 e Hibernate usa ddl-auto=validate. As migrations incluem users, services, service_requests e reviews. Fonte: src/main/java/com/servicehub e src/main/resources/db/migration.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POST e PUT exigem fullName, email e password. PUT substitui os dados editáveis; PATCH altera somente campos fornecidos e não nulos. DELETE retorna 204 sem corpo. O ID inexistente retorna 404. Fonte: UserController.java e UserService.java.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Nome, e-mail e senha são obrigatórios no cadastro. O nome suporta até 100 caracteres e o e-mail até 255. O e-mail é normalizado e deve ser único. A senha é armazenada como hash PBKDF2 com salt aleatório e não aparece na resposta. Os erros retornam timestamp, status, error, message e path. Fonte: UserService.java, PasswordHashService.java e GlobalExceptionHandler.java.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http://localhost:8080/swagger-ui.html. Expandir POST e mostrar o exemplo, os campos obrigatórios e as respostas de erro. Mostrar UserResponse sem senha. A imagem é uma captura real da aplicação validada, com recorte para destacar o CRUD. Fontes: docs/evidencias/swagger.jpg e docs/openapi.json. Compatibilidade SpringDoc: https://springdoc.org/.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Executado mvnw.cmd clean verify com JDK 25: 26 testes e zero falhas/erros. O perfil test usa H2 em modo PostgreSQL e verifica migrations, relacionamentos, repositórios, regras de negócio, CRUD e OpenAPI. O script scripts/verify-api.ps1 executou 24 verificações HTTP sobre o PostgreSQL 15 real. Os registros temporários foram removidos. Fontes: docs/evidencias/junit-summary.json, docs/evidencias/http-validation.json e docs/VALIDACAO.md.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Reservar 3 a 4 minutos para as chamadas ao vivo, intercalando esta tela com Swagger e código. Criar usuário, copiar o ID, consultar, atualizar e excluir. Consultar o ID removido demonstra 404; repetir cadastro antes da exclusão demonstra 409. Antes da apresentação, seguir README.md e docs/ROTEIRO.md. A entrega local inclui código-fonte, configuração Docker, testes, evidências e estes slides. Repositório configurado: https://github.com/JoseHFilho/ServiceHub_API. As alterações locais precisam ser publicadas para uma entrega exclusivamente por link.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bd426037984c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94e8c33efd43e3" /><Relationship Type="http://schemas.openxmlformats.org/officeDocument/2006/relationships/slideLayout" Target="/ppt/slideLayouts/slideLayout1.xml" Id="R95d667adf73b47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d667adf73b47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c8f390aa843ba" /><Relationship Type="http://schemas.openxmlformats.org/officeDocument/2006/relationships/notesSlide" Target="/ppt/notesSlides/notesSlide1.xml" Id="R6a8384a5c7d44c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afca614514352" /><Relationship Type="http://schemas.openxmlformats.org/officeDocument/2006/relationships/notesSlide" Target="/ppt/notesSlides/notesSlide2.xml" Id="Ra49c33a9000745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f4b00ef714542" /><Relationship Type="http://schemas.openxmlformats.org/officeDocument/2006/relationships/notesSlide" Target="/ppt/notesSlides/notesSlide3.xml" Id="Rbfc8516fdb344e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f98787fa14a12" /><Relationship Type="http://schemas.openxmlformats.org/officeDocument/2006/relationships/notesSlide" Target="/ppt/notesSlides/notesSlide4.xml" Id="R0ca724bdd6834d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7e8aba0354180" /><Relationship Type="http://schemas.openxmlformats.org/officeDocument/2006/relationships/notesSlide" Target="/ppt/notesSlides/notesSlide5.xml" Id="R80f5623f91f143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2ccd5ce3b44ac" /><Relationship Type="http://schemas.openxmlformats.org/officeDocument/2006/relationships/image" Target="/ppt/media/image.jpeg" Id="R3ba23086f28d4386" /><Relationship Type="http://schemas.openxmlformats.org/officeDocument/2006/relationships/notesSlide" Target="/ppt/notesSlides/notesSlide6.xml" Id="R4551bc9759f242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39824ec6974ed0" /><Relationship Type="http://schemas.openxmlformats.org/officeDocument/2006/relationships/notesSlide" Target="/ppt/notesSlides/notesSlide7.xml" Id="Rc6f62a7a51a945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27e5aac67a4960" /><Relationship Type="http://schemas.openxmlformats.org/officeDocument/2006/relationships/notesSlide" Target="/ppt/notesSlides/notesSlide8.xml" Id="Ra9b1bb0a1a1f48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243AC-A5CD-4E74-8953-DA58FD42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ServiceHub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EEBEC4-F736-4C86-8C53-3BB78C0E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BCD8E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CD8E6"/>
                </a:solidFill>
                <a:latin typeface="Arial"/>
                <a:ea typeface="Arial"/>
                <a:cs typeface="Arial"/>
              </a:rPr>
              <a:t>Cadastro de usuários com Spring Boot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DD47B9-2677-435B-B4F0-1F080764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Checkpoint 1</a:t>
            </a:r>
          </a:p>
        </p:txBody>
      </p:sp>
    </p:spTree>
    <p:extLst>
      <p:ext uri="{BB962C8B-B14F-4D97-AF65-F5344CB8AC3E}">
        <p14:creationId xmlns:p14="http://schemas.microsoft.com/office/powerpoint/2010/main" val="4606322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36E3C-8189-444E-ABF5-CB85D7F5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Contexto e escopo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ABF44-8AF4-453D-81B2-178105F7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687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A0434-6000-49F1-BD30-65CF6CA5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Uma plataforma para conectar clientes e prestadores de serviços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2914D-B3E5-4E7F-AE99-A662AB3E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1047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0344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448"/>
                </a:solidFill>
                <a:latin typeface="Arial"/>
                <a:ea typeface="Arial"/>
                <a:cs typeface="Arial"/>
              </a:rPr>
              <a:t>O checkpoint entrega o cadastro de usuários: criar, consultar, substituir dados, atualizar parcialmente e excluir.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AD096B-EFCA-4C30-8A1A-9C7A894A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4687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46879"/>
                </a:solidFill>
                <a:latin typeface="Arial"/>
                <a:ea typeface="Arial"/>
                <a:cs typeface="Arial"/>
              </a:rPr>
              <a:t>O modelo de dados também prepara serviços, pedidos e avaliações para as próximas etapas.</a:t>
            </a:r>
          </a:p>
        </p:txBody>
      </p:sp>
    </p:spTree>
    <p:extLst>
      <p:ext uri="{BB962C8B-B14F-4D97-AF65-F5344CB8AC3E}">
        <p14:creationId xmlns:p14="http://schemas.microsoft.com/office/powerpoint/2010/main" val="425149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2B1ED-6001-4DD6-A699-FBF4CC3E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Arquitetura e persistência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13425D-E378-46FB-B639-394CD2BC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687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153400"/>
              </a:tblGrid>
              <a:tr h="6477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Camada</a:t>
                      </a:r>
                    </a:p>
                  </a:txBody>
                  <a:tcPr marL="91440" marR="91440" marT="45720" marB="45720">
                    <a:solidFill>
                      <a:srgbClr val="10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Responsabilidade</a:t>
                      </a:r>
                    </a:p>
                  </a:txBody>
                  <a:tcPr marL="91440" marR="91440" marT="45720" marB="45720">
                    <a:solidFill>
                      <a:srgbClr val="102B46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8"/>
                          </a:solidFill>
                          <a:latin typeface="Arial"/>
                          <a:ea typeface="Arial"/>
                          <a:cs typeface="Arial"/>
                        </a:rPr>
                        <a:t>Controller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8"/>
                          </a:solidFill>
                          <a:latin typeface="Arial"/>
                          <a:ea typeface="Arial"/>
                          <a:cs typeface="Arial"/>
                        </a:rPr>
                        <a:t>Receber HTTP e converter DTOs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8"/>
                          </a:solidFill>
                          <a:latin typeface="Arial"/>
                          <a:ea typeface="Arial"/>
                          <a:cs typeface="Arial"/>
                        </a:rPr>
                        <a:t>Service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8"/>
                          </a:solidFill>
                          <a:latin typeface="Arial"/>
                          <a:ea typeface="Arial"/>
                          <a:cs typeface="Arial"/>
                        </a:rPr>
                        <a:t>Validar, aplicar regras e controlar transações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8"/>
                          </a:solidFill>
                          <a:latin typeface="Arial"/>
                          <a:ea typeface="Arial"/>
                          <a:cs typeface="Arial"/>
                        </a:rPr>
                        <a:t>Repository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8"/>
                          </a:solidFill>
                          <a:latin typeface="Arial"/>
                          <a:ea typeface="Arial"/>
                          <a:cs typeface="Arial"/>
                        </a:rPr>
                        <a:t>Consultar e persistir com Spring Data JPA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8"/>
                          </a:solidFill>
                          <a:latin typeface="Arial"/>
                          <a:ea typeface="Arial"/>
                          <a:cs typeface="Arial"/>
                        </a:rPr>
                        <a:t>PostgreSQL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8"/>
                          </a:solidFill>
                          <a:latin typeface="Arial"/>
                          <a:ea typeface="Arial"/>
                          <a:cs typeface="Arial"/>
                        </a:rPr>
                        <a:t>Manter registros e relacionamentos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D7FA6-AA2C-4B04-B868-CA81043C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Flyway versiona o schema. Hibernate valida o mapeamento.</a:t>
            </a:r>
          </a:p>
        </p:txBody>
      </p:sp>
    </p:spTree>
    <p:extLst>
      <p:ext uri="{BB962C8B-B14F-4D97-AF65-F5344CB8AC3E}">
        <p14:creationId xmlns:p14="http://schemas.microsoft.com/office/powerpoint/2010/main" val="320346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7449F-754F-44C2-B660-5A7D1DE7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CRUD de usuários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217E1C-99D2-4F78-AE04-3F4877B6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687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10820400" cy="4067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7200900"/>
                <a:gridCol w="2095500"/>
              </a:tblGrid>
              <a:tr h="5810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Método</a:t>
                      </a:r>
                    </a:p>
                  </a:txBody>
                  <a:tcPr marL="91440" marR="91440" marT="45720" marB="45720">
                    <a:solidFill>
                      <a:srgbClr val="10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Caminho</a:t>
                      </a:r>
                    </a:p>
                  </a:txBody>
                  <a:tcPr marL="91440" marR="91440" marT="45720" marB="45720">
                    <a:solidFill>
                      <a:srgbClr val="10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Sucesso</a:t>
                      </a:r>
                    </a:p>
                  </a:txBody>
                  <a:tcPr marL="91440" marR="91440" marT="45720" marB="45720">
                    <a:solidFill>
                      <a:srgbClr val="102B46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8"/>
                          </a:solidFill>
                          <a:latin typeface="Arial"/>
                          <a:ea typeface="Arial"/>
                          <a:cs typeface="Arial"/>
                        </a:rPr>
                        <a:t>POST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8"/>
                          </a:solidFill>
                          <a:latin typeface="Arial"/>
                          <a:ea typeface="Arial"/>
                          <a:cs typeface="Arial"/>
                        </a:rPr>
                        <a:t>/api/users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8"/>
                          </a:solidFill>
                          <a:latin typeface="Arial"/>
                          <a:ea typeface="Arial"/>
                          <a:cs typeface="Arial"/>
                        </a:rPr>
                        <a:t>201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8"/>
                          </a:solidFill>
                          <a:latin typeface="Arial"/>
                          <a:ea typeface="Arial"/>
                          <a:cs typeface="Arial"/>
                        </a:rPr>
                        <a:t>GET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8"/>
                          </a:solidFill>
                          <a:latin typeface="Arial"/>
                          <a:ea typeface="Arial"/>
                          <a:cs typeface="Arial"/>
                        </a:rPr>
                        <a:t>/api/users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8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8"/>
                          </a:solidFill>
                          <a:latin typeface="Arial"/>
                          <a:ea typeface="Arial"/>
                          <a:cs typeface="Arial"/>
                        </a:rPr>
                        <a:t>GET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8"/>
                          </a:solidFill>
                          <a:latin typeface="Arial"/>
                          <a:ea typeface="Arial"/>
                          <a:cs typeface="Arial"/>
                        </a:rPr>
                        <a:t>/api/users/{id}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8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8"/>
                          </a:solidFill>
                          <a:latin typeface="Arial"/>
                          <a:ea typeface="Arial"/>
                          <a:cs typeface="Arial"/>
                        </a:rPr>
                        <a:t>PUT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8"/>
                          </a:solidFill>
                          <a:latin typeface="Arial"/>
                          <a:ea typeface="Arial"/>
                          <a:cs typeface="Arial"/>
                        </a:rPr>
                        <a:t>/api/users/{id}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8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8"/>
                          </a:solidFill>
                          <a:latin typeface="Arial"/>
                          <a:ea typeface="Arial"/>
                          <a:cs typeface="Arial"/>
                        </a:rPr>
                        <a:t>PATCH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8"/>
                          </a:solidFill>
                          <a:latin typeface="Arial"/>
                          <a:ea typeface="Arial"/>
                          <a:cs typeface="Arial"/>
                        </a:rPr>
                        <a:t>/api/users/{id}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8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8"/>
                          </a:solidFill>
                          <a:latin typeface="Arial"/>
                          <a:ea typeface="Arial"/>
                          <a:cs typeface="Arial"/>
                        </a:rPr>
                        <a:t>DELETE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8"/>
                          </a:solidFill>
                          <a:latin typeface="Arial"/>
                          <a:ea typeface="Arial"/>
                          <a:cs typeface="Arial"/>
                        </a:rPr>
                        <a:t>/api/users/{id}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8"/>
                          </a:solidFill>
                          <a:latin typeface="Arial"/>
                          <a:ea typeface="Arial"/>
                          <a:cs typeface="Arial"/>
                        </a:rPr>
                        <a:t>204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716FB-8AE2-4FD3-9974-E6D901D3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PUT completo e PATCH parcial com contratos distintos</a:t>
            </a:r>
          </a:p>
        </p:txBody>
      </p:sp>
    </p:spTree>
    <p:extLst>
      <p:ext uri="{BB962C8B-B14F-4D97-AF65-F5344CB8AC3E}">
        <p14:creationId xmlns:p14="http://schemas.microsoft.com/office/powerpoint/2010/main" val="4600323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C3BB6-DD9B-4B24-B311-1EF5D7F1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Validações e tratamento de erros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EEEAB5-EA96-4CA4-928A-EB7BBE50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687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685925"/>
          <a:ext xmlns:a="http://schemas.openxmlformats.org/drawingml/2006/main" cx="108204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9296400"/>
              </a:tblGrid>
              <a:tr h="6191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HTTP</a:t>
                      </a:r>
                    </a:p>
                  </a:txBody>
                  <a:tcPr marL="91440" marR="91440" marT="45720" marB="45720">
                    <a:solidFill>
                      <a:srgbClr val="10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Cenário</a:t>
                      </a:r>
                    </a:p>
                  </a:txBody>
                  <a:tcPr marL="91440" marR="91440" marT="45720" marB="45720">
                    <a:solidFill>
                      <a:srgbClr val="102B4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8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8"/>
                          </a:solidFill>
                          <a:latin typeface="Arial"/>
                          <a:ea typeface="Arial"/>
                          <a:cs typeface="Arial"/>
                        </a:rPr>
                        <a:t>Campos inválidos, JSON malformado ou ID inválido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8"/>
                          </a:solidFill>
                          <a:latin typeface="Arial"/>
                          <a:ea typeface="Arial"/>
                          <a:cs typeface="Arial"/>
                        </a:rPr>
                        <a:t>404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8"/>
                          </a:solidFill>
                          <a:latin typeface="Arial"/>
                          <a:ea typeface="Arial"/>
                          <a:cs typeface="Arial"/>
                        </a:rPr>
                        <a:t>Usuário não encontrado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8"/>
                          </a:solidFill>
                          <a:latin typeface="Arial"/>
                          <a:ea typeface="Arial"/>
                          <a:cs typeface="Arial"/>
                        </a:rPr>
                        <a:t>409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8"/>
                          </a:solidFill>
                          <a:latin typeface="Arial"/>
                          <a:ea typeface="Arial"/>
                          <a:cs typeface="Arial"/>
                        </a:rPr>
                        <a:t>E-mail duplicado ou conflito com dados vinculados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8"/>
                          </a:solidFill>
                          <a:latin typeface="Arial"/>
                          <a:ea typeface="Arial"/>
                          <a:cs typeface="Arial"/>
                        </a:rPr>
                        <a:t>415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8"/>
                          </a:solidFill>
                          <a:latin typeface="Arial"/>
                          <a:ea typeface="Arial"/>
                          <a:cs typeface="Arial"/>
                        </a:rPr>
                        <a:t>Tipo de conteúdo diferente de JSON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4D734-C72B-41F6-8DF0-E2A8559B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Senhas recebem hash e nunca aparecem nas respostas.</a:t>
            </a:r>
          </a:p>
        </p:txBody>
      </p:sp>
    </p:spTree>
    <p:extLst>
      <p:ext uri="{BB962C8B-B14F-4D97-AF65-F5344CB8AC3E}">
        <p14:creationId xmlns:p14="http://schemas.microsoft.com/office/powerpoint/2010/main" val="6043892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E55267-654B-42FC-8827-078177C8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Documentação no Swagger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6F58E-2504-4D58-938B-FD374612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6879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a23086f28d4386"/>
          <a:stretch xmlns:a="http://schemas.openxmlformats.org/drawingml/2006/main"/>
        </p:blipFill>
        <p:spPr>
          <a:xfrm xmlns:a="http://schemas.openxmlformats.org/drawingml/2006/main">
            <a:off x="2186804" y="1476375"/>
            <a:ext cx="7818393" cy="440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91A12-454B-4E70-8E6E-6EA8E9E3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9122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Interface: /swagger-ui.html  |  OpenAPI: /v3/api-docs</a:t>
            </a:r>
          </a:p>
        </p:txBody>
      </p:sp>
    </p:spTree>
    <p:extLst>
      <p:ext uri="{BB962C8B-B14F-4D97-AF65-F5344CB8AC3E}">
        <p14:creationId xmlns:p14="http://schemas.microsoft.com/office/powerpoint/2010/main" val="10382937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6A305F-0089-4BA3-A80E-75F89A44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Resultados da validação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6EB2D-B0DA-45C2-A669-6B0FAAA1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6879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85E2E-DB49-4B70-AF71-192126F0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26 testes automatizados aprovados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554FB-06FF-4858-8E2A-DD06DBC6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4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448"/>
                </a:solidFill>
                <a:latin typeface="Arial"/>
                <a:ea typeface="Arial"/>
                <a:cs typeface="Arial"/>
              </a:rPr>
              <a:t>Compilação, migrations, JPA, regras de negócio e OpenAPI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22ECD-571D-4B8E-9A23-FE2EA1B0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24 verificações HTTP aprovadas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A79D4F-D419-4794-AD9A-5A348908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4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448"/>
                </a:solidFill>
                <a:latin typeface="Arial"/>
                <a:ea typeface="Arial"/>
                <a:cs typeface="Arial"/>
              </a:rPr>
              <a:t>CRUD e cenários de erro executados com PostgreSQL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3C3107-9E87-4AAE-926E-4E93B91E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4687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46879"/>
                </a:solidFill>
                <a:latin typeface="Arial"/>
                <a:ea typeface="Arial"/>
                <a:cs typeface="Arial"/>
              </a:rPr>
              <a:t>Zero falhas e zero erros na suíte automatizada</a:t>
            </a:r>
          </a:p>
        </p:txBody>
      </p:sp>
    </p:spTree>
    <p:extLst>
      <p:ext uri="{BB962C8B-B14F-4D97-AF65-F5344CB8AC3E}">
        <p14:creationId xmlns:p14="http://schemas.microsoft.com/office/powerpoint/2010/main" val="8540109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07C8AF-C384-4B00-81DC-3118EA17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B4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Demonstração e entrega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DBEEC-8842-48EE-A75B-43D9916F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6879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3F15F-D4C6-4453-8608-4237D9CF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04975"/>
            <a:ext cx="1047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03448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03448"/>
                </a:solidFill>
                <a:latin typeface="Arial"/>
                <a:ea typeface="Arial"/>
                <a:cs typeface="Arial"/>
              </a:rPr>
              <a:t>1. Criar e consultar um usuário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1E09BC-9E6F-4983-A3E0-0D329F9B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1047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03448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03448"/>
                </a:solidFill>
                <a:latin typeface="Arial"/>
                <a:ea typeface="Arial"/>
                <a:cs typeface="Arial"/>
              </a:rPr>
              <a:t>2. Atualizar dados e demonstrar um erro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E8EB5-2359-4C75-9DA1-39C9E235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1047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03448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03448"/>
                </a:solidFill>
                <a:latin typeface="Arial"/>
                <a:ea typeface="Arial"/>
                <a:cs typeface="Arial"/>
              </a:rPr>
              <a:t>3. Excluir e confirmar o retorno 404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A83D7-B182-402E-B0C2-C74EE215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03448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03448"/>
                </a:solidFill>
                <a:latin typeface="Arial"/>
                <a:ea typeface="Arial"/>
                <a:cs typeface="Arial"/>
              </a:rPr>
              <a:t>4. Mostrar Controller, Service, Repository e testes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99AD49-45B3-4B59-BA2B-E406C934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Entrega: projeto, slides e instruções de execução no ZIP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E94FE-2516-4691-B52F-3B4CB077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468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46879"/>
                </a:solidFill>
                <a:latin typeface="Arial"/>
                <a:ea typeface="Arial"/>
                <a:cs typeface="Arial"/>
              </a:rPr>
              <a:t>github.com/JoseHFilho/ServiceHub_API</a:t>
            </a:r>
          </a:p>
        </p:txBody>
      </p:sp>
    </p:spTree>
    <p:extLst>
      <p:ext uri="{BB962C8B-B14F-4D97-AF65-F5344CB8AC3E}">
        <p14:creationId xmlns:p14="http://schemas.microsoft.com/office/powerpoint/2010/main" val="285870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2026-09-22T20:21:32.9260000Z</dcterms:created>
  <dcterms:modified xsi:type="dcterms:W3CDTF">2026-09-22T20:21:32.9260000Z</dcterms:modified>
</coreProperties>
</file>